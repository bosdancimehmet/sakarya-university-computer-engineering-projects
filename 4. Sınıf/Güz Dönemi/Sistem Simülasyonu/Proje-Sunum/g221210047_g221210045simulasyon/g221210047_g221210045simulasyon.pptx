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DE8B6-E674-4C44-BB80-7354B15F1957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39331-CECA-46CC-8E29-CD9990432A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174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39331-CECA-46CC-8E29-CD9990432A0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708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393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35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524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77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09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215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91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307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7615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29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F615ED5-6227-43D7-86C0-8081DDB9C04C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09A1078-2D15-45F9-84D6-60A5FF414224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61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DF1C60-F560-4F5A-6461-A88DEEF9F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Ambulans Çağrı Sistemi Simülasyonu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9F498F8-2FB3-2059-0DE9-DEB05113C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703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9BC60B-FE7D-83D5-C774-B903438A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İran Ambulans Veri Seti Örneği</a:t>
            </a:r>
          </a:p>
        </p:txBody>
      </p:sp>
      <p:pic>
        <p:nvPicPr>
          <p:cNvPr id="5" name="İçerik Yer Tutucusu 4" descr="metin, sayı, numara, paralel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7194667-A150-0DD7-D932-8C2D625CC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7005" y="2017713"/>
            <a:ext cx="5052491" cy="3980751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DBBF547-345D-9E05-83E9-C3D731F1B905}"/>
              </a:ext>
            </a:extLst>
          </p:cNvPr>
          <p:cNvSpPr txBox="1"/>
          <p:nvPr/>
        </p:nvSpPr>
        <p:spPr>
          <a:xfrm>
            <a:off x="379229" y="20087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proje, gerçek bir veri seti üzerinden bir acil çağrı merkezinin işleyişini matematiksel modellerle analiz etmeyi ve simüle etmeyi amaçlar.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F0D87ED-FF84-A5D1-76CE-3F75D2AF6D65}"/>
              </a:ext>
            </a:extLst>
          </p:cNvPr>
          <p:cNvSpPr txBox="1"/>
          <p:nvPr/>
        </p:nvSpPr>
        <p:spPr>
          <a:xfrm>
            <a:off x="379229" y="352020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İran'daki acil sağlık hizmetlerine ait gerçek çağrı kayıtları (Ambulans Veri Seti) kullanılmıştır.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65807B80-5D12-1044-83AE-72CFBD1A59B6}"/>
              </a:ext>
            </a:extLst>
          </p:cNvPr>
          <p:cNvSpPr txBox="1"/>
          <p:nvPr/>
        </p:nvSpPr>
        <p:spPr>
          <a:xfrm>
            <a:off x="379229" y="416653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Çağrıların geliş sıklığı ve operatörlerin hizmet süreleri istatistiksel yöntemlerle modellenmiştir.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0AC186EA-AF57-BC58-463A-01FF6C59E649}"/>
              </a:ext>
            </a:extLst>
          </p:cNvPr>
          <p:cNvSpPr txBox="1"/>
          <p:nvPr/>
        </p:nvSpPr>
        <p:spPr>
          <a:xfrm>
            <a:off x="8854568" y="6001818"/>
            <a:ext cx="1133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Resim 1.1</a:t>
            </a:r>
          </a:p>
        </p:txBody>
      </p:sp>
    </p:spTree>
    <p:extLst>
      <p:ext uri="{BB962C8B-B14F-4D97-AF65-F5344CB8AC3E}">
        <p14:creationId xmlns:p14="http://schemas.microsoft.com/office/powerpoint/2010/main" val="91809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09C04F-CA23-020B-5CFC-58F8B3AE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İşleme</a:t>
            </a:r>
          </a:p>
        </p:txBody>
      </p:sp>
      <p:pic>
        <p:nvPicPr>
          <p:cNvPr id="5" name="İçerik Yer Tutucusu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04D8804-1A1D-9728-0AB2-58B371F76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125661"/>
            <a:ext cx="5764414" cy="3630687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01B2BD6D-3928-9924-4B62-919C20E3D260}"/>
              </a:ext>
            </a:extLst>
          </p:cNvPr>
          <p:cNvSpPr txBox="1"/>
          <p:nvPr/>
        </p:nvSpPr>
        <p:spPr>
          <a:xfrm>
            <a:off x="331586" y="3190875"/>
            <a:ext cx="5857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Öncelikle veri setinden çağrı saatlerini alıp farklarını bulduk.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 verilerle daha rahat çalışabilmek için dakika cinsine çevirdik</a:t>
            </a:r>
          </a:p>
        </p:txBody>
      </p:sp>
    </p:spTree>
    <p:extLst>
      <p:ext uri="{BB962C8B-B14F-4D97-AF65-F5344CB8AC3E}">
        <p14:creationId xmlns:p14="http://schemas.microsoft.com/office/powerpoint/2010/main" val="1988984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902DF2-1ADB-59BE-1145-584E32C4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İşleme</a:t>
            </a:r>
          </a:p>
        </p:txBody>
      </p:sp>
      <p:pic>
        <p:nvPicPr>
          <p:cNvPr id="5" name="İçerik Yer Tutucusu 4" descr="metin, diyagram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CF37777-B476-71FA-7B19-84797D747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2471" y="1941513"/>
            <a:ext cx="7129529" cy="402272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97A48370-256C-2FC4-68D2-08D44938E9A4}"/>
              </a:ext>
            </a:extLst>
          </p:cNvPr>
          <p:cNvSpPr txBox="1"/>
          <p:nvPr/>
        </p:nvSpPr>
        <p:spPr>
          <a:xfrm>
            <a:off x="164593" y="2475547"/>
            <a:ext cx="47183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 verileri kullanarak oluşturduğumuz histogram grafiğinde, gözlemlerin sıklığının azalan bir eğilim sergilediğini ve görsel olarak </a:t>
            </a:r>
            <a:r>
              <a:rPr lang="tr-TR" b="1" dirty="0"/>
              <a:t>Üstel Dağılım</a:t>
            </a:r>
            <a:r>
              <a:rPr lang="tr-TR" dirty="0"/>
              <a:t> karakteristiği gösterdiğini saptadık.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Dağılımın matematiksel modelini oluşturabilmek amacıyla veriler üzerinden temel değerleri hesapladık.</a:t>
            </a:r>
          </a:p>
        </p:txBody>
      </p:sp>
    </p:spTree>
    <p:extLst>
      <p:ext uri="{BB962C8B-B14F-4D97-AF65-F5344CB8AC3E}">
        <p14:creationId xmlns:p14="http://schemas.microsoft.com/office/powerpoint/2010/main" val="364991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2C292A-E4C8-8739-BEFE-92E4ADF30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Testi</a:t>
            </a:r>
          </a:p>
        </p:txBody>
      </p:sp>
      <p:pic>
        <p:nvPicPr>
          <p:cNvPr id="15" name="İçerik Yer Tutucusu 1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04A8033-91D2-F8F8-F731-AA4064315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4832" y="2280978"/>
            <a:ext cx="7297168" cy="3724795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5432850F-B64E-3629-7DF2-FA81AB169783}"/>
              </a:ext>
            </a:extLst>
          </p:cNvPr>
          <p:cNvSpPr txBox="1"/>
          <p:nvPr/>
        </p:nvSpPr>
        <p:spPr>
          <a:xfrm>
            <a:off x="0" y="2035455"/>
            <a:ext cx="49712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‘Üstel </a:t>
            </a:r>
            <a:r>
              <a:rPr lang="tr-TR" dirty="0" err="1"/>
              <a:t>Dağılım’tahminini</a:t>
            </a:r>
            <a:r>
              <a:rPr lang="tr-TR" dirty="0"/>
              <a:t> bilimsel olarak doğrulamak amacıyla verilerimizi </a:t>
            </a:r>
            <a:r>
              <a:rPr lang="tr-TR" b="1" dirty="0"/>
              <a:t>Ki-Kare Uygunluk </a:t>
            </a:r>
            <a:r>
              <a:rPr lang="tr-TR" b="1" dirty="0" err="1"/>
              <a:t>Testi</a:t>
            </a:r>
            <a:r>
              <a:rPr lang="tr-TR" dirty="0" err="1"/>
              <a:t>'ne</a:t>
            </a:r>
            <a:r>
              <a:rPr lang="tr-TR" dirty="0"/>
              <a:t> tabi tuttuk.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Yapılan analiz sonucunda elde ettiğimiz değerin kritik değerden küçük olması sebebiyle </a:t>
            </a:r>
            <a:r>
              <a:rPr lang="tr-TR" b="1" dirty="0"/>
              <a:t>"Kabul"</a:t>
            </a:r>
            <a:r>
              <a:rPr lang="tr-TR" dirty="0"/>
              <a:t> sonucuna vardık.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 sonuç, sürelerin matematiksel olarak </a:t>
            </a:r>
            <a:r>
              <a:rPr lang="el-GR" b="1" dirty="0"/>
              <a:t>λ=0,</a:t>
            </a:r>
            <a:r>
              <a:rPr lang="tr-TR" b="1" dirty="0"/>
              <a:t>2374</a:t>
            </a:r>
            <a:r>
              <a:rPr lang="el-GR" dirty="0"/>
              <a:t> </a:t>
            </a:r>
            <a:r>
              <a:rPr lang="tr-TR" dirty="0"/>
              <a:t>parametreli bir Üstel Dağılım modeliyle temsil edilebileceğini kesinleştirmiştir.</a:t>
            </a:r>
          </a:p>
        </p:txBody>
      </p:sp>
    </p:spTree>
    <p:extLst>
      <p:ext uri="{BB962C8B-B14F-4D97-AF65-F5344CB8AC3E}">
        <p14:creationId xmlns:p14="http://schemas.microsoft.com/office/powerpoint/2010/main" val="239373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977D7C-AF42-39C0-603A-8C0178F7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İşleme 2</a:t>
            </a:r>
          </a:p>
        </p:txBody>
      </p:sp>
      <p:pic>
        <p:nvPicPr>
          <p:cNvPr id="5" name="İçerik Yer Tutucusu 4" descr="metin, sayı, numara, ekran görüntüsü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A567DF8-EF40-EE34-14C8-92617B5A4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2622" y="2210892"/>
            <a:ext cx="6649378" cy="3458058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55B04FC-BC6F-CCD1-BFC2-B2931EC08B3D}"/>
              </a:ext>
            </a:extLst>
          </p:cNvPr>
          <p:cNvSpPr txBox="1"/>
          <p:nvPr/>
        </p:nvSpPr>
        <p:spPr>
          <a:xfrm>
            <a:off x="377952" y="3048292"/>
            <a:ext cx="45232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Veri setinden çağrı  konuşma sürelerini alıp dağılımın matematiksel modelini oluşturabilmek amacıyla veriler üzerinden temel değerleri hesapladık.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418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434C29-79FD-A024-9372-0FEABB078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İşleme 2</a:t>
            </a:r>
          </a:p>
        </p:txBody>
      </p:sp>
      <p:pic>
        <p:nvPicPr>
          <p:cNvPr id="5" name="İçerik Yer Tutucusu 4" descr="metin, ekran görüntüsü, sayı, numar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A804C3B-97D9-E93A-9762-4D7F5FD22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661289"/>
            <a:ext cx="4467849" cy="2676899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12B6C3C-07A1-714A-3911-70EEF7EAF03E}"/>
              </a:ext>
            </a:extLst>
          </p:cNvPr>
          <p:cNvSpPr txBox="1"/>
          <p:nvPr/>
        </p:nvSpPr>
        <p:spPr>
          <a:xfrm>
            <a:off x="839724" y="2993427"/>
            <a:ext cx="489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Çağrı merkezindeki görüşme sürelerini incelediğimizde, verilerin merkezi bir değer etrafında kümelendiğini, </a:t>
            </a:r>
            <a:r>
              <a:rPr lang="tr-TR" b="1" dirty="0"/>
              <a:t>Normal Dağılım </a:t>
            </a:r>
            <a:r>
              <a:rPr lang="tr-TR" dirty="0"/>
              <a:t>karakteristiği gösterdiğini</a:t>
            </a:r>
            <a:r>
              <a:rPr lang="tr-TR" b="1" dirty="0"/>
              <a:t> </a:t>
            </a:r>
            <a:r>
              <a:rPr lang="tr-TR" dirty="0"/>
              <a:t>tespit ettik. </a:t>
            </a:r>
          </a:p>
        </p:txBody>
      </p:sp>
    </p:spTree>
    <p:extLst>
      <p:ext uri="{BB962C8B-B14F-4D97-AF65-F5344CB8AC3E}">
        <p14:creationId xmlns:p14="http://schemas.microsoft.com/office/powerpoint/2010/main" val="3764517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940CFC-9DCE-C4CE-DD02-19DBF7D6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Testi 2</a:t>
            </a:r>
          </a:p>
        </p:txBody>
      </p:sp>
      <p:pic>
        <p:nvPicPr>
          <p:cNvPr id="5" name="İçerik Yer Tutucusu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7CDE4C-8734-DF22-C039-02DFFA771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938" y="2604857"/>
            <a:ext cx="7632062" cy="2995843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A0736445-14D2-070F-E0A7-516A40116F56}"/>
              </a:ext>
            </a:extLst>
          </p:cNvPr>
          <p:cNvSpPr txBox="1"/>
          <p:nvPr/>
        </p:nvSpPr>
        <p:spPr>
          <a:xfrm>
            <a:off x="0" y="2143192"/>
            <a:ext cx="45599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‘Normal Dağılım’ tahminini bilimsel olarak doğrulamak amacıyla verilerimizi </a:t>
            </a:r>
            <a:r>
              <a:rPr lang="tr-TR" b="1" dirty="0"/>
              <a:t>Ki-Kare Uygunluk Testi</a:t>
            </a:r>
            <a:r>
              <a:rPr lang="tr-TR" dirty="0"/>
              <a:t>’ ne tabi tuttuk.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Yapılan analiz sonucunda elde ettiğimiz değerin kritik değerden küçük olması sebebiyle </a:t>
            </a:r>
            <a:r>
              <a:rPr lang="tr-TR" b="1" dirty="0"/>
              <a:t>"Kabul"</a:t>
            </a:r>
            <a:r>
              <a:rPr lang="tr-TR" dirty="0"/>
              <a:t> sonucuna vardık.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0107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324E27-B76F-CE19-D597-9C90E919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Rastgele Sayı Üretme</a:t>
            </a:r>
          </a:p>
        </p:txBody>
      </p:sp>
      <p:pic>
        <p:nvPicPr>
          <p:cNvPr id="5" name="İçerik Yer Tutucusu 4" descr="metin, ekran görüntüsü, sayı, numara, takv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9D4D8AD-F43E-572A-E692-D64EF868C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5738" y="2052003"/>
            <a:ext cx="7730305" cy="402272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DE3F60C5-D9D4-9CBC-BD96-544F0A42AEC0}"/>
              </a:ext>
            </a:extLst>
          </p:cNvPr>
          <p:cNvSpPr txBox="1"/>
          <p:nvPr/>
        </p:nvSpPr>
        <p:spPr>
          <a:xfrm>
            <a:off x="185957" y="1987587"/>
            <a:ext cx="37185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Görselde görüldüğü parametreleri kullanarak [(</a:t>
            </a:r>
            <a:r>
              <a:rPr lang="tr-TR" dirty="0" err="1"/>
              <a:t>a⋅</a:t>
            </a:r>
            <a:r>
              <a:rPr lang="tr-TR" dirty="0" err="1">
                <a:effectLst/>
              </a:rPr>
              <a:t>X</a:t>
            </a:r>
            <a:r>
              <a:rPr lang="tr-TR" dirty="0"/>
              <a:t>)+c]</a:t>
            </a:r>
            <a:r>
              <a:rPr lang="tr-TR" dirty="0" err="1"/>
              <a:t>modm</a:t>
            </a:r>
            <a:r>
              <a:rPr lang="tr-TR" dirty="0"/>
              <a:t> formülüyle 10 adet başlangıç sayısı (</a:t>
            </a:r>
            <a:r>
              <a:rPr lang="tr-TR" dirty="0" err="1">
                <a:effectLst/>
              </a:rPr>
              <a:t>Xi</a:t>
            </a:r>
            <a:r>
              <a:rPr lang="tr-TR" dirty="0"/>
              <a:t>​) ürettik. Bu sayıları modül değerine bölerek 0 ile 1 arasında dağılan </a:t>
            </a:r>
            <a:r>
              <a:rPr lang="tr-TR" b="1" dirty="0" err="1">
                <a:effectLst/>
              </a:rPr>
              <a:t>Ri</a:t>
            </a:r>
            <a:r>
              <a:rPr lang="tr-TR" b="1" dirty="0"/>
              <a:t>​</a:t>
            </a:r>
            <a:r>
              <a:rPr lang="tr-TR" dirty="0"/>
              <a:t> değerlerini elde ettik.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Ürettiğimiz bu sayıların düzgün dağılıp dağılmadığını denetlemek için K-S testini uyguladık.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5625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10DB36-D360-1768-FD7E-0A81755A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Yeni Veri Oluşturma</a:t>
            </a:r>
          </a:p>
        </p:txBody>
      </p:sp>
      <p:pic>
        <p:nvPicPr>
          <p:cNvPr id="5" name="İçerik Yer Tutucusu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D92D430-00D0-6F48-5A2C-538023D13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8236" y="2951003"/>
            <a:ext cx="5146980" cy="2433321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C521199-168B-10F8-14E0-75AB81365E14}"/>
              </a:ext>
            </a:extLst>
          </p:cNvPr>
          <p:cNvSpPr txBox="1"/>
          <p:nvPr/>
        </p:nvSpPr>
        <p:spPr>
          <a:xfrm>
            <a:off x="214452" y="284578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Buradaki tablo bilgisayarın rastgele ürettiği sayıları alıp, bizim gerçek λ değerlerimizle çarparak onları anlamlı dakikalara çeviriyor. Böylece elde ettiğimiz süreler hem rastgele oluyor hem de bizim başlangıçtaki </a:t>
            </a:r>
            <a:r>
              <a:rPr lang="tr-TR"/>
              <a:t>verilerimize uyum </a:t>
            </a:r>
            <a:r>
              <a:rPr lang="tr-TR" dirty="0"/>
              <a:t>sağlıyor."</a:t>
            </a:r>
          </a:p>
        </p:txBody>
      </p:sp>
    </p:spTree>
    <p:extLst>
      <p:ext uri="{BB962C8B-B14F-4D97-AF65-F5344CB8AC3E}">
        <p14:creationId xmlns:p14="http://schemas.microsoft.com/office/powerpoint/2010/main" val="51172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1DD7DB-8E76-4E10-ED90-140D8AA2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Simülasyon</a:t>
            </a:r>
          </a:p>
        </p:txBody>
      </p:sp>
      <p:pic>
        <p:nvPicPr>
          <p:cNvPr id="5" name="İçerik Yer Tutucusu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F5CA1A0-2035-D33E-9FA0-E1068DECD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613" y="1961923"/>
            <a:ext cx="9974067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696C51-3325-C80A-0DF5-2FFD88CD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6128"/>
            <a:ext cx="10058400" cy="1450757"/>
          </a:xfrm>
        </p:spPr>
        <p:txBody>
          <a:bodyPr/>
          <a:lstStyle/>
          <a:p>
            <a:r>
              <a:rPr lang="tr-TR" dirty="0"/>
              <a:t>Dinlediğiniz İçin Teşekkür Ederiz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37E29BC-AEED-387A-BFE1-D594E0999F21}"/>
              </a:ext>
            </a:extLst>
          </p:cNvPr>
          <p:cNvSpPr txBox="1"/>
          <p:nvPr/>
        </p:nvSpPr>
        <p:spPr>
          <a:xfrm>
            <a:off x="8891016" y="52834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Mehmet </a:t>
            </a:r>
            <a:r>
              <a:rPr lang="tr-TR" dirty="0" err="1"/>
              <a:t>Bosdancı</a:t>
            </a:r>
            <a:r>
              <a:rPr lang="tr-TR" dirty="0"/>
              <a:t> G221210045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52F5F9A-5D4D-7C71-FB9D-A4E8A39E86EA}"/>
              </a:ext>
            </a:extLst>
          </p:cNvPr>
          <p:cNvSpPr txBox="1"/>
          <p:nvPr/>
        </p:nvSpPr>
        <p:spPr>
          <a:xfrm>
            <a:off x="8891016" y="5630620"/>
            <a:ext cx="7494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Furkan Kesicioğlu G221210047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5E9FB3E-FCFD-25B3-3A17-34AABE8D09CA}"/>
              </a:ext>
            </a:extLst>
          </p:cNvPr>
          <p:cNvSpPr txBox="1"/>
          <p:nvPr/>
        </p:nvSpPr>
        <p:spPr>
          <a:xfrm>
            <a:off x="8193432" y="4830393"/>
            <a:ext cx="819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Hazırlayanlar</a:t>
            </a:r>
          </a:p>
        </p:txBody>
      </p:sp>
    </p:spTree>
    <p:extLst>
      <p:ext uri="{BB962C8B-B14F-4D97-AF65-F5344CB8AC3E}">
        <p14:creationId xmlns:p14="http://schemas.microsoft.com/office/powerpoint/2010/main" val="2918435270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</TotalTime>
  <Words>351</Words>
  <Application>Microsoft Office PowerPoint</Application>
  <PresentationFormat>Geniş ekran</PresentationFormat>
  <Paragraphs>52</Paragraphs>
  <Slides>12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Geçmişe bakış</vt:lpstr>
      <vt:lpstr>Ambulans Çağrı Sistemi Simülasyonu</vt:lpstr>
      <vt:lpstr>İran Ambulans Veri Seti Örneği</vt:lpstr>
      <vt:lpstr>Veri İşleme</vt:lpstr>
      <vt:lpstr>Veri İşleme</vt:lpstr>
      <vt:lpstr>Veri Testi</vt:lpstr>
      <vt:lpstr>Veri İşleme 2</vt:lpstr>
      <vt:lpstr>Veri İşleme 2</vt:lpstr>
      <vt:lpstr>Veri Testi 2</vt:lpstr>
      <vt:lpstr>Rastgele Sayı Üretme</vt:lpstr>
      <vt:lpstr>Yeni Veri Oluşturma</vt:lpstr>
      <vt:lpstr>Simülasyon</vt:lpstr>
      <vt:lpstr>Dinlediğiniz İçin Teşekkür Ederiz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Furkan Kesicioğlu</dc:creator>
  <cp:lastModifiedBy>Furkan Kesicioğlu</cp:lastModifiedBy>
  <cp:revision>4</cp:revision>
  <dcterms:created xsi:type="dcterms:W3CDTF">2025-12-15T09:41:16Z</dcterms:created>
  <dcterms:modified xsi:type="dcterms:W3CDTF">2025-12-15T18:13:02Z</dcterms:modified>
</cp:coreProperties>
</file>