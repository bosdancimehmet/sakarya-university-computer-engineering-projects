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3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732" autoAdjust="0"/>
  </p:normalViewPr>
  <p:slideViewPr>
    <p:cSldViewPr snapToGrid="0" snapToObjects="1">
      <p:cViewPr varScale="1">
        <p:scale>
          <a:sx n="63" d="100"/>
          <a:sy n="63" d="100"/>
        </p:scale>
        <p:origin x="202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9CA7CC-22EB-46BD-AA63-1DB634502751}" type="datetimeFigureOut">
              <a:rPr lang="tr-TR" smtClean="0"/>
              <a:t>21.05.2025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8ADB2D-D9D3-4F91-BBDB-8E919D1B53B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02225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/>
              <a:t>This</a:t>
            </a:r>
            <a:r>
              <a:rPr lang="tr-TR" dirty="0"/>
              <a:t> step is </a:t>
            </a:r>
            <a:r>
              <a:rPr lang="tr-TR" dirty="0" err="1"/>
              <a:t>very</a:t>
            </a:r>
            <a:r>
              <a:rPr lang="tr-TR" dirty="0"/>
              <a:t> </a:t>
            </a:r>
            <a:r>
              <a:rPr lang="tr-TR" dirty="0" err="1"/>
              <a:t>significant</a:t>
            </a:r>
            <a:r>
              <a:rPr lang="tr-TR" dirty="0"/>
              <a:t> </a:t>
            </a:r>
            <a:r>
              <a:rPr lang="tr-TR" dirty="0" err="1"/>
              <a:t>because</a:t>
            </a:r>
            <a:r>
              <a:rPr lang="tr-TR" dirty="0"/>
              <a:t> software </a:t>
            </a:r>
            <a:r>
              <a:rPr lang="tr-TR" dirty="0" err="1"/>
              <a:t>developers</a:t>
            </a:r>
            <a:r>
              <a:rPr lang="tr-TR" dirty="0"/>
              <a:t> start </a:t>
            </a:r>
            <a:r>
              <a:rPr lang="tr-TR" dirty="0" err="1"/>
              <a:t>coding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real</a:t>
            </a:r>
            <a:r>
              <a:rPr lang="tr-TR" dirty="0"/>
              <a:t> </a:t>
            </a:r>
            <a:r>
              <a:rPr lang="tr-TR" dirty="0" err="1"/>
              <a:t>world</a:t>
            </a:r>
            <a:r>
              <a:rPr lang="tr-TR" dirty="0"/>
              <a:t> problem </a:t>
            </a:r>
            <a:r>
              <a:rPr lang="tr-TR" dirty="0" err="1"/>
              <a:t>within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specified</a:t>
            </a:r>
            <a:r>
              <a:rPr lang="tr-TR" dirty="0"/>
              <a:t> </a:t>
            </a:r>
            <a:r>
              <a:rPr lang="tr-TR" dirty="0" err="1"/>
              <a:t>design</a:t>
            </a:r>
            <a:r>
              <a:rPr lang="tr-TR" dirty="0"/>
              <a:t> </a:t>
            </a:r>
            <a:r>
              <a:rPr lang="tr-TR" dirty="0" err="1"/>
              <a:t>framework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ADB2D-D9D3-4F91-BBDB-8E919D1B53BF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8499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/>
              <a:t>Waterfall</a:t>
            </a:r>
            <a:r>
              <a:rPr lang="tr-TR" dirty="0"/>
              <a:t> model </a:t>
            </a:r>
            <a:r>
              <a:rPr lang="tr-TR" dirty="0" err="1"/>
              <a:t>each</a:t>
            </a:r>
            <a:r>
              <a:rPr lang="tr-TR" dirty="0"/>
              <a:t> step </a:t>
            </a:r>
            <a:r>
              <a:rPr lang="tr-TR" dirty="0" err="1"/>
              <a:t>must</a:t>
            </a:r>
            <a:r>
              <a:rPr lang="tr-TR" dirty="0"/>
              <a:t> be </a:t>
            </a:r>
            <a:r>
              <a:rPr lang="tr-TR" dirty="0" err="1"/>
              <a:t>fully</a:t>
            </a:r>
            <a:r>
              <a:rPr lang="tr-TR" dirty="0"/>
              <a:t> </a:t>
            </a:r>
            <a:r>
              <a:rPr lang="tr-TR" dirty="0" err="1"/>
              <a:t>completed</a:t>
            </a:r>
            <a:r>
              <a:rPr lang="tr-TR" dirty="0"/>
              <a:t> </a:t>
            </a:r>
            <a:r>
              <a:rPr lang="tr-TR" dirty="0" err="1"/>
              <a:t>before</a:t>
            </a:r>
            <a:r>
              <a:rPr lang="tr-TR" dirty="0"/>
              <a:t> </a:t>
            </a:r>
            <a:r>
              <a:rPr lang="tr-TR" dirty="0" err="1"/>
              <a:t>moving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next</a:t>
            </a:r>
            <a:r>
              <a:rPr lang="tr-TR" dirty="0"/>
              <a:t> </a:t>
            </a:r>
            <a:r>
              <a:rPr lang="tr-TR" dirty="0" err="1"/>
              <a:t>one</a:t>
            </a:r>
            <a:endParaRPr lang="tr-TR" dirty="0"/>
          </a:p>
          <a:p>
            <a:r>
              <a:rPr lang="tr-TR" dirty="0" err="1"/>
              <a:t>Waterfall</a:t>
            </a:r>
            <a:r>
              <a:rPr lang="tr-TR" dirty="0"/>
              <a:t> model </a:t>
            </a:r>
            <a:r>
              <a:rPr lang="tr-TR" dirty="0" err="1"/>
              <a:t>just</a:t>
            </a:r>
            <a:r>
              <a:rPr lang="tr-TR" dirty="0"/>
              <a:t> </a:t>
            </a:r>
            <a:r>
              <a:rPr lang="tr-TR" dirty="0" err="1"/>
              <a:t>like</a:t>
            </a:r>
            <a:r>
              <a:rPr lang="tr-TR" dirty="0"/>
              <a:t> </a:t>
            </a:r>
            <a:r>
              <a:rPr lang="tr-TR" dirty="0" err="1"/>
              <a:t>water</a:t>
            </a:r>
            <a:r>
              <a:rPr lang="tr-TR" dirty="0"/>
              <a:t> </a:t>
            </a:r>
            <a:r>
              <a:rPr lang="tr-TR" dirty="0" err="1"/>
              <a:t>flowing</a:t>
            </a:r>
            <a:r>
              <a:rPr lang="tr-TR" dirty="0"/>
              <a:t> </a:t>
            </a:r>
            <a:r>
              <a:rPr lang="tr-TR" dirty="0" err="1"/>
              <a:t>down</a:t>
            </a:r>
            <a:r>
              <a:rPr lang="tr-TR" dirty="0"/>
              <a:t> a </a:t>
            </a:r>
            <a:r>
              <a:rPr lang="tr-TR" dirty="0" err="1"/>
              <a:t>waterfall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waterfall</a:t>
            </a:r>
            <a:r>
              <a:rPr lang="tr-TR" dirty="0"/>
              <a:t> </a:t>
            </a:r>
            <a:r>
              <a:rPr lang="tr-TR" dirty="0" err="1"/>
              <a:t>cannot</a:t>
            </a:r>
            <a:r>
              <a:rPr lang="tr-TR" dirty="0"/>
              <a:t> </a:t>
            </a:r>
            <a:r>
              <a:rPr lang="tr-TR" dirty="0" err="1"/>
              <a:t>go</a:t>
            </a:r>
            <a:r>
              <a:rPr lang="tr-TR" dirty="0"/>
              <a:t> </a:t>
            </a:r>
            <a:r>
              <a:rPr lang="tr-TR" dirty="0" err="1"/>
              <a:t>back</a:t>
            </a:r>
            <a:r>
              <a:rPr lang="tr-TR" dirty="0"/>
              <a:t> </a:t>
            </a:r>
            <a:r>
              <a:rPr lang="tr-TR" dirty="0" err="1"/>
              <a:t>up</a:t>
            </a:r>
            <a:endParaRPr lang="tr-TR" dirty="0"/>
          </a:p>
          <a:p>
            <a:r>
              <a:rPr lang="tr-TR" dirty="0" err="1"/>
              <a:t>Waterfall’s</a:t>
            </a:r>
            <a:r>
              <a:rPr lang="tr-TR" dirty="0"/>
              <a:t> Motto: Plan </a:t>
            </a:r>
            <a:r>
              <a:rPr lang="tr-TR" dirty="0" err="1"/>
              <a:t>everything</a:t>
            </a:r>
            <a:r>
              <a:rPr lang="tr-TR" dirty="0"/>
              <a:t> </a:t>
            </a:r>
            <a:r>
              <a:rPr lang="tr-TR" dirty="0" err="1"/>
              <a:t>first</a:t>
            </a:r>
            <a:r>
              <a:rPr lang="tr-TR" dirty="0"/>
              <a:t>, </a:t>
            </a:r>
            <a:r>
              <a:rPr lang="tr-TR" dirty="0" err="1"/>
              <a:t>then</a:t>
            </a:r>
            <a:r>
              <a:rPr lang="tr-TR" dirty="0"/>
              <a:t> </a:t>
            </a:r>
            <a:r>
              <a:rPr lang="tr-TR" dirty="0" err="1"/>
              <a:t>built</a:t>
            </a:r>
            <a:r>
              <a:rPr lang="tr-TR" dirty="0"/>
              <a:t> it step </a:t>
            </a:r>
            <a:r>
              <a:rPr lang="tr-TR" dirty="0" err="1"/>
              <a:t>by</a:t>
            </a:r>
            <a:r>
              <a:rPr lang="tr-TR" dirty="0"/>
              <a:t> step </a:t>
            </a:r>
            <a:r>
              <a:rPr lang="tr-TR" dirty="0" err="1"/>
              <a:t>no</a:t>
            </a:r>
            <a:r>
              <a:rPr lang="tr-TR" dirty="0"/>
              <a:t> </a:t>
            </a:r>
            <a:r>
              <a:rPr lang="tr-TR" dirty="0" err="1"/>
              <a:t>going</a:t>
            </a:r>
            <a:r>
              <a:rPr lang="tr-TR" dirty="0"/>
              <a:t> </a:t>
            </a:r>
            <a:r>
              <a:rPr lang="tr-TR" dirty="0" err="1"/>
              <a:t>back</a:t>
            </a:r>
            <a:endParaRPr lang="tr-TR" dirty="0"/>
          </a:p>
          <a:p>
            <a:endParaRPr lang="tr-TR" dirty="0"/>
          </a:p>
          <a:p>
            <a:r>
              <a:rPr lang="tr-TR" dirty="0"/>
              <a:t>Agile model is </a:t>
            </a:r>
            <a:r>
              <a:rPr lang="tr-TR" dirty="0" err="1"/>
              <a:t>perfect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fast-paced</a:t>
            </a:r>
            <a:r>
              <a:rPr lang="tr-TR" dirty="0"/>
              <a:t> </a:t>
            </a:r>
            <a:r>
              <a:rPr lang="tr-TR" dirty="0" err="1"/>
              <a:t>projects</a:t>
            </a:r>
            <a:r>
              <a:rPr lang="tr-TR" dirty="0"/>
              <a:t> </a:t>
            </a:r>
            <a:r>
              <a:rPr lang="tr-TR" dirty="0" err="1"/>
              <a:t>where</a:t>
            </a:r>
            <a:r>
              <a:rPr lang="tr-TR" dirty="0"/>
              <a:t> </a:t>
            </a:r>
            <a:r>
              <a:rPr lang="tr-TR" dirty="0" err="1"/>
              <a:t>requirements</a:t>
            </a:r>
            <a:r>
              <a:rPr lang="tr-TR" dirty="0"/>
              <a:t> </a:t>
            </a:r>
            <a:r>
              <a:rPr lang="tr-TR" dirty="0" err="1"/>
              <a:t>change</a:t>
            </a:r>
            <a:r>
              <a:rPr lang="tr-TR" dirty="0"/>
              <a:t> </a:t>
            </a:r>
            <a:r>
              <a:rPr lang="tr-TR" dirty="0" err="1"/>
              <a:t>often</a:t>
            </a:r>
            <a:endParaRPr lang="tr-TR" dirty="0"/>
          </a:p>
          <a:p>
            <a:r>
              <a:rPr lang="tr-TR" dirty="0"/>
              <a:t>Agile Works in </a:t>
            </a:r>
            <a:r>
              <a:rPr lang="tr-TR" dirty="0" err="1"/>
              <a:t>short</a:t>
            </a:r>
            <a:r>
              <a:rPr lang="tr-TR" dirty="0"/>
              <a:t> </a:t>
            </a:r>
            <a:r>
              <a:rPr lang="tr-TR" dirty="0" err="1"/>
              <a:t>repeating</a:t>
            </a:r>
            <a:r>
              <a:rPr lang="tr-TR" dirty="0"/>
              <a:t> </a:t>
            </a:r>
            <a:r>
              <a:rPr lang="tr-TR" dirty="0" err="1"/>
              <a:t>cycles</a:t>
            </a:r>
            <a:r>
              <a:rPr lang="tr-TR" dirty="0"/>
              <a:t> </a:t>
            </a:r>
            <a:r>
              <a:rPr lang="tr-TR" dirty="0" err="1"/>
              <a:t>called</a:t>
            </a:r>
            <a:r>
              <a:rPr lang="tr-TR" dirty="0"/>
              <a:t> </a:t>
            </a:r>
            <a:r>
              <a:rPr lang="tr-TR" dirty="0" err="1"/>
              <a:t>iterations</a:t>
            </a:r>
            <a:r>
              <a:rPr lang="tr-TR" dirty="0"/>
              <a:t> </a:t>
            </a:r>
          </a:p>
          <a:p>
            <a:r>
              <a:rPr lang="tr-TR" dirty="0" err="1"/>
              <a:t>Agile’s</a:t>
            </a:r>
            <a:r>
              <a:rPr lang="tr-TR" dirty="0"/>
              <a:t> Motto: </a:t>
            </a:r>
            <a:r>
              <a:rPr lang="tr-TR" dirty="0" err="1"/>
              <a:t>Working</a:t>
            </a:r>
            <a:r>
              <a:rPr lang="tr-TR" dirty="0"/>
              <a:t> software is </a:t>
            </a:r>
            <a:r>
              <a:rPr lang="tr-TR" dirty="0" err="1"/>
              <a:t>more</a:t>
            </a:r>
            <a:r>
              <a:rPr lang="tr-TR" dirty="0"/>
              <a:t> </a:t>
            </a:r>
            <a:r>
              <a:rPr lang="tr-TR" dirty="0" err="1"/>
              <a:t>significant</a:t>
            </a:r>
            <a:r>
              <a:rPr lang="tr-TR" dirty="0"/>
              <a:t> </a:t>
            </a:r>
            <a:r>
              <a:rPr lang="tr-TR" dirty="0" err="1"/>
              <a:t>than</a:t>
            </a:r>
            <a:r>
              <a:rPr lang="tr-TR" dirty="0"/>
              <a:t> </a:t>
            </a:r>
            <a:r>
              <a:rPr lang="tr-TR" dirty="0" err="1"/>
              <a:t>detailed</a:t>
            </a:r>
            <a:r>
              <a:rPr lang="tr-TR" dirty="0"/>
              <a:t> </a:t>
            </a:r>
            <a:r>
              <a:rPr lang="tr-TR" dirty="0" err="1"/>
              <a:t>documentation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ADB2D-D9D3-4F91-BBDB-8E919D1B53BF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89520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3FE342E-2A48-4E7E-D6BD-BBA9DEF10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F2F43123-011D-000E-04B8-DE71ED98E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A5BF00F-F541-7233-E327-A53C20569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E0AEE47-1686-4ABB-26A5-FECBAE977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7CFF00B-09F5-8351-337C-9C05BD2D5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431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529D52F-2ACC-0BF8-E6EC-FFB31DBF7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61738D0-5CD6-2C6E-6ED1-8DE9F7232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9A31676-7602-6962-7796-1215E3986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10EF981-FDAF-9489-7CB4-364DC567B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DA39D56-4191-0B8D-D31E-9D56FE5C1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897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29D1A01-5A2E-5748-48E3-9E66B8A57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B354256-D7FE-9B9A-E71F-4DE5102B0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11E501C-4FE6-FD71-4039-F3C4C1051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23B42F2-051D-5C6E-E579-B12371092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825A7A0-DE2D-A9B7-0253-9C8FAB481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451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3844CE7-9DDE-B225-2E24-C9DD94D94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075E9A5-DFEB-DAB7-1FAE-844E158172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56E49B1-8D87-8CE9-EF02-96DFE1060D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CD51E0BD-EEE3-AF29-4BA6-EFCF057A8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A49F2BB-25FE-32F6-ED73-BDD17B92F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A514CF5-1713-0B03-A6D4-777659295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709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C02159D-9DD6-9691-4114-BB1479783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0BB5143-F321-3017-E13A-A8A397487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0DFBDD20-CFA2-3166-45BC-2A7D1C30E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4CDA677D-9E4F-45A2-47F2-F5E451346E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3C2E0F97-A821-6917-E0FB-FDBDD454E9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CF94A419-ED8E-BDCE-4CEC-681ABC5C0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829866A4-704E-9699-4E0D-DB6FF8A9F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B42706F2-0AD8-2B40-81B4-6BAD8123A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833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857EB92-83B1-CC1A-4C07-202A999F8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92087188-80AB-513C-142B-C7B3D632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239740B4-FED2-FBB3-F690-36AFB71DB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EA7AE534-D093-4957-143B-0C2C43093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583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FCE25496-AE04-D4DD-6F91-C1CF1C298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397CBECF-04B2-0E26-E9CE-A6090690F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1EA31E11-D1CA-7817-A0F7-BCBD0E9B7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065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3656B07-3E11-8775-0380-0DCBB56E2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337477A-FB1A-6440-13C4-6FD099DF1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DA1C4A80-67F2-293D-BAEB-B12BB52B5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CA9C1424-4908-8E9F-9E5C-1864DB156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48BDDCE-64C8-F2AB-DA38-899DEAC87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EDEC9982-0368-B6C3-BD48-6FDE6F52E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433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D32BE94-25C9-560D-FAB0-AE846B6F1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C8A806C7-8A38-E587-058D-C63866467E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D8318CDE-2C64-4FB1-5A2D-BB35CE1F64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33B3B062-085A-27D0-7965-0C1968552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0B61C53-0172-47CC-B010-DEE31600A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0DC38D7-1AAC-E302-4ED0-1E5B206A3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916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705ECA9-BE1D-FB4E-5BAD-9B2BC7111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44B9AA2B-4575-141B-AE1F-C21B3CD0B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7231211-A057-90EE-FD80-95184BAC6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8BA0600-56F2-896E-61A3-37577CDE3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02E85C2-0D9E-960F-AA58-539E3B19E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125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E0296DBE-0B57-3D5B-5158-370E801E64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C414880A-7909-DC5B-9223-3D86D36C1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55907DE-58A8-022D-B86A-E69E0B4BE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C4ECCA6-23E7-6AE6-FA39-36B71F344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1ED3BC7-9C8A-AA3A-BCB1-91AE0117D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588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E5E528CC-894C-7F5E-C748-82E4A6CB2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2A22A28-1D57-6C44-580C-D334B3E85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B7F8528-6DF6-C69B-B0C7-B29CC607E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60D5CB9-B84C-58AD-1CDF-662A00A806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58A2ECB-6A83-F669-1DC6-3CBD3384C0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171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chtarget.com/searchsoftwarequality/definition/systems-development-life-cycl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551962"/>
            <a:ext cx="8249304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293338"/>
            <a:ext cx="6858000" cy="3274592"/>
          </a:xfrm>
        </p:spPr>
        <p:txBody>
          <a:bodyPr anchor="ctr">
            <a:normAutofit/>
          </a:bodyPr>
          <a:lstStyle/>
          <a:p>
            <a:r>
              <a:rPr lang="en-US" sz="6300" dirty="0"/>
              <a:t>Software Development Life Cycle (SDLC)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5514052"/>
            <a:ext cx="6858000" cy="651910"/>
          </a:xfrm>
        </p:spPr>
        <p:txBody>
          <a:bodyPr anchor="ctr">
            <a:normAutofit/>
          </a:bodyPr>
          <a:lstStyle/>
          <a:p>
            <a:r>
              <a:rPr lang="tr-TR" dirty="0"/>
              <a:t>Mehmet Bosdancı - G221210045</a:t>
            </a:r>
          </a:p>
        </p:txBody>
      </p:sp>
      <p:cxnSp>
        <p:nvCxnSpPr>
          <p:cNvPr id="11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348" y="6354708"/>
            <a:ext cx="8250174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tr-TR">
                <a:solidFill>
                  <a:srgbClr val="FFFFFF"/>
                </a:solidFill>
              </a:rPr>
              <a:t>What is SDLC?</a:t>
            </a:r>
          </a:p>
        </p:txBody>
      </p:sp>
      <p:sp>
        <p:nvSpPr>
          <p:cNvPr id="7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900" dirty="0"/>
              <a:t>SDLC stands for Software Development Life Cycle. It is a process used to design, develop, test, and deliver software.</a:t>
            </a:r>
          </a:p>
          <a:p>
            <a:pPr>
              <a:spcAft>
                <a:spcPts val="1000"/>
              </a:spcAft>
            </a:pPr>
            <a:r>
              <a:rPr lang="en-US" sz="1900" dirty="0"/>
              <a:t>This cycle gives developers and teams a clear structure to follow while building software systems.</a:t>
            </a:r>
          </a:p>
          <a:p>
            <a:pPr>
              <a:spcAft>
                <a:spcPts val="1000"/>
              </a:spcAft>
            </a:pPr>
            <a:r>
              <a:rPr lang="en-US" sz="1900" dirty="0"/>
              <a:t>It includes steps that help track progress and ensure that software meets user needs.</a:t>
            </a:r>
          </a:p>
          <a:p>
            <a:pPr>
              <a:spcAft>
                <a:spcPts val="1000"/>
              </a:spcAft>
            </a:pPr>
            <a:r>
              <a:rPr lang="en-US" sz="1900" dirty="0"/>
              <a:t>By using SDLC, teams reduce risks, avoid confusion, and improve the quality of the final product.</a:t>
            </a:r>
          </a:p>
          <a:p>
            <a:pPr>
              <a:spcAft>
                <a:spcPts val="1000"/>
              </a:spcAft>
            </a:pPr>
            <a:r>
              <a:rPr lang="en-US" sz="1900" dirty="0"/>
              <a:t>It is a widely accepted method that supports careful planning, better organization, and smooth communication among developers.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6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tr-TR" sz="4200"/>
              <a:t>Why is SDLC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700" dirty="0"/>
              <a:t>SDLC provides a roadmap for software development. Without it, teams might miss important steps.</a:t>
            </a:r>
          </a:p>
          <a:p>
            <a:pPr>
              <a:spcAft>
                <a:spcPts val="1000"/>
              </a:spcAft>
            </a:pPr>
            <a:r>
              <a:rPr lang="en-US" sz="1700" dirty="0"/>
              <a:t>It ensures that every member knows their roles and responsibilities clearly.</a:t>
            </a:r>
          </a:p>
          <a:p>
            <a:pPr>
              <a:spcAft>
                <a:spcPts val="1000"/>
              </a:spcAft>
            </a:pPr>
            <a:r>
              <a:rPr lang="en-US" sz="1700" dirty="0"/>
              <a:t>With SDLC, problems can be identified early, which saves time and cost later.</a:t>
            </a:r>
          </a:p>
          <a:p>
            <a:pPr>
              <a:spcAft>
                <a:spcPts val="1000"/>
              </a:spcAft>
            </a:pPr>
            <a:r>
              <a:rPr lang="en-US" sz="1700" dirty="0"/>
              <a:t>It also improves teamwork by making each phase transparent and easy to follow.</a:t>
            </a:r>
          </a:p>
          <a:p>
            <a:pPr>
              <a:spcAft>
                <a:spcPts val="1000"/>
              </a:spcAft>
            </a:pPr>
            <a:r>
              <a:rPr lang="en-US" sz="1700" dirty="0"/>
              <a:t>By following a consistent method, the final software becomes more reliable, user-friendly, and easier to maintain.</a:t>
            </a:r>
          </a:p>
        </p:txBody>
      </p:sp>
      <p:cxnSp>
        <p:nvCxnSpPr>
          <p:cNvPr id="21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tr-TR" sz="4700" dirty="0"/>
              <a:t>Main </a:t>
            </a:r>
            <a:r>
              <a:rPr lang="tr-TR" sz="4700" dirty="0" err="1"/>
              <a:t>Phases</a:t>
            </a:r>
            <a:r>
              <a:rPr lang="tr-TR" sz="4700" dirty="0"/>
              <a:t> of SDLC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Autofit/>
          </a:bodyPr>
          <a:lstStyle/>
          <a:p>
            <a:pPr>
              <a:spcAft>
                <a:spcPts val="1000"/>
              </a:spcAft>
            </a:pPr>
            <a:r>
              <a:rPr lang="en-US" sz="1700" dirty="0"/>
              <a:t>1) Requirements Gathering: This phase focuses on understanding the user's needs and expectations from the system.</a:t>
            </a:r>
          </a:p>
          <a:p>
            <a:pPr>
              <a:spcAft>
                <a:spcPts val="1000"/>
              </a:spcAft>
            </a:pPr>
            <a:r>
              <a:rPr lang="en-US" sz="1700" dirty="0"/>
              <a:t>2) Requirement Analysis: System features are clarified, and technical requirements are documented in detail.</a:t>
            </a:r>
          </a:p>
          <a:p>
            <a:pPr>
              <a:spcAft>
                <a:spcPts val="1000"/>
              </a:spcAft>
            </a:pPr>
            <a:r>
              <a:rPr lang="en-US" sz="1700" dirty="0"/>
              <a:t>3) Analysis: Requirements are examined thoroughly, potential risks are identified, and solutions are proposed.</a:t>
            </a:r>
          </a:p>
          <a:p>
            <a:pPr>
              <a:spcAft>
                <a:spcPts val="1000"/>
              </a:spcAft>
            </a:pPr>
            <a:r>
              <a:rPr lang="en-US" sz="1700" dirty="0"/>
              <a:t>4) Design: The software architecture is created. Interfaces, data structures, and the overall system structure are planned.</a:t>
            </a:r>
          </a:p>
          <a:p>
            <a:pPr>
              <a:spcAft>
                <a:spcPts val="1000"/>
              </a:spcAft>
            </a:pPr>
            <a:r>
              <a:rPr lang="en-US" sz="1700" dirty="0"/>
              <a:t>5) Implementation (Coding): Developers write the code to bring the planned system to life.</a:t>
            </a:r>
          </a:p>
          <a:p>
            <a:pPr>
              <a:spcAft>
                <a:spcPts val="1000"/>
              </a:spcAft>
            </a:pPr>
            <a:r>
              <a:rPr lang="en-US" sz="1700" dirty="0"/>
              <a:t>6) Testing: The software is checked to ensure it functions as intended. Bugs are identified and fixed.</a:t>
            </a:r>
          </a:p>
          <a:p>
            <a:pPr>
              <a:spcAft>
                <a:spcPts val="1000"/>
              </a:spcAft>
            </a:pPr>
            <a:r>
              <a:rPr lang="en-US" sz="1700" dirty="0"/>
              <a:t>7) Maintenance: After the software is delivered, any emerging issues are resolved, and the system is kept up-to-date.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24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tr-TR" sz="4700"/>
              <a:t>SDLC Models &amp; Benefits</a:t>
            </a:r>
          </a:p>
        </p:txBody>
      </p:sp>
      <p:grpSp>
        <p:nvGrpSpPr>
          <p:cNvPr id="33" name="Group 26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28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600" dirty="0"/>
              <a:t>There are several SDLC models such as Waterfall, Agile, and Spiral. Each has different uses and strengths.</a:t>
            </a:r>
          </a:p>
          <a:p>
            <a:pPr>
              <a:spcAft>
                <a:spcPts val="1000"/>
              </a:spcAft>
            </a:pPr>
            <a:r>
              <a:rPr lang="en-US" sz="1600" dirty="0"/>
              <a:t>Waterfall is step-by-step and easy to manage. Agile is flexible and adapts quickly to changes.</a:t>
            </a:r>
          </a:p>
          <a:p>
            <a:pPr>
              <a:spcAft>
                <a:spcPts val="1000"/>
              </a:spcAft>
            </a:pPr>
            <a:r>
              <a:rPr lang="en-US" sz="1600" dirty="0"/>
              <a:t>Spiral combines planning and testing continuously and is good for large projects.</a:t>
            </a:r>
          </a:p>
          <a:p>
            <a:pPr>
              <a:spcAft>
                <a:spcPts val="1000"/>
              </a:spcAft>
            </a:pPr>
            <a:r>
              <a:rPr lang="en-US" sz="1600" dirty="0"/>
              <a:t>Benefits of SDLC include better planning and time management.</a:t>
            </a:r>
          </a:p>
          <a:p>
            <a:pPr>
              <a:spcAft>
                <a:spcPts val="1000"/>
              </a:spcAft>
            </a:pPr>
            <a:r>
              <a:rPr lang="en-US" sz="1600" dirty="0"/>
              <a:t>It helps reduce the number of bugs and issues found later in the project.</a:t>
            </a:r>
          </a:p>
          <a:p>
            <a:pPr>
              <a:spcAft>
                <a:spcPts val="1000"/>
              </a:spcAft>
            </a:pPr>
            <a:r>
              <a:rPr lang="en-US" sz="1600" dirty="0"/>
              <a:t>It improves collaboration between team members, making the process more efficient.</a:t>
            </a:r>
          </a:p>
          <a:p>
            <a:pPr>
              <a:spcAft>
                <a:spcPts val="1000"/>
              </a:spcAft>
            </a:pPr>
            <a:r>
              <a:rPr lang="en-US" sz="1600" dirty="0"/>
              <a:t>SDLC also ensures the software meets user needs, which increases satisfaction.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tr-TR" sz="630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pPr>
              <a:spcAft>
                <a:spcPts val="1000"/>
              </a:spcAft>
            </a:pPr>
            <a:r>
              <a:rPr lang="tr-TR" dirty="0"/>
              <a:t>1. https://www.geeksforgeeks.org/software-development-life-cycle-sdlc/</a:t>
            </a:r>
          </a:p>
          <a:p>
            <a:pPr>
              <a:spcAft>
                <a:spcPts val="1000"/>
              </a:spcAft>
            </a:pPr>
            <a:r>
              <a:rPr lang="tr-TR" dirty="0"/>
              <a:t>2. https://www.ibm.com/topics/software-development-life-cycle</a:t>
            </a:r>
          </a:p>
          <a:p>
            <a:pPr>
              <a:spcAft>
                <a:spcPts val="1000"/>
              </a:spcAft>
            </a:pPr>
            <a:r>
              <a:rPr lang="tr-TR" dirty="0"/>
              <a:t>3.</a:t>
            </a:r>
            <a:r>
              <a:rPr lang="tr-TR" dirty="0">
                <a:hlinkClick r:id="rId2"/>
              </a:rPr>
              <a:t>https://www.techtarget.com/searchsoftwarequality/definition/systems-development-life-cycle</a:t>
            </a:r>
            <a:endParaRPr lang="tr-T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</TotalTime>
  <Words>582</Words>
  <Application>Microsoft Office PowerPoint</Application>
  <PresentationFormat>Ekran Gösterisi (4:3)</PresentationFormat>
  <Paragraphs>44</Paragraphs>
  <Slides>6</Slides>
  <Notes>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Teması</vt:lpstr>
      <vt:lpstr>Software Development Life Cycle (SDLC)</vt:lpstr>
      <vt:lpstr>What is SDLC?</vt:lpstr>
      <vt:lpstr>Why is SDLC Important?</vt:lpstr>
      <vt:lpstr>Main Phases of SDLC</vt:lpstr>
      <vt:lpstr>SDLC Models &amp; Benefits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Development Life Cycle (SDLC)</dc:title>
  <dc:subject/>
  <dc:creator/>
  <cp:keywords/>
  <dc:description>generated using python-pptx</dc:description>
  <cp:lastModifiedBy>Mehmet Bosdancı</cp:lastModifiedBy>
  <cp:revision>8</cp:revision>
  <dcterms:created xsi:type="dcterms:W3CDTF">2013-01-27T09:14:16Z</dcterms:created>
  <dcterms:modified xsi:type="dcterms:W3CDTF">2025-05-21T08:04:21Z</dcterms:modified>
  <cp:category/>
</cp:coreProperties>
</file>